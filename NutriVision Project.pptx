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DM Sans" pitchFamily="2" charset="77"/>
      <p:regular r:id="rId12"/>
      <p:bold r:id="rId13"/>
      <p:italic r:id="rId14"/>
      <p:boldItalic r:id="rId15"/>
    </p:embeddedFont>
    <p:embeddedFont>
      <p:font typeface="DM Sans Medium" pitchFamily="2" charset="77"/>
      <p:regular r:id="rId16"/>
      <p:bold r:id="rId17"/>
      <p:italic r:id="rId18"/>
      <p:boldItalic r:id="rId19"/>
    </p:embeddedFont>
    <p:embeddedFont>
      <p:font typeface="Lora" pitchFamily="2" charset="77"/>
      <p:regular r:id="rId20"/>
      <p:bold r:id="rId21"/>
      <p:italic r:id="rId22"/>
      <p:boldItalic r:id="rId23"/>
    </p:embeddedFont>
    <p:embeddedFont>
      <p:font typeface="Lora SemiBold" pitchFamily="2" charset="77"/>
      <p:regular r:id="rId24"/>
      <p:bold r:id="rId25"/>
      <p:italic r:id="rId26"/>
      <p:boldItalic r:id="rId27"/>
    </p:embeddedFont>
    <p:embeddedFont>
      <p:font typeface="Roboto"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29"/>
    <p:restoredTop sz="94733"/>
  </p:normalViewPr>
  <p:slideViewPr>
    <p:cSldViewPr snapToGrid="0">
      <p:cViewPr varScale="1">
        <p:scale>
          <a:sx n="104" d="100"/>
          <a:sy n="104" d="100"/>
        </p:scale>
        <p:origin x="800"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font" Target="fonts/font1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8bd05c07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g3b8bd05c07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b8bd05c07b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3b8bd05c07b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b8bd05c07b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3b8bd05c07b_0_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b8bd05c07b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g3b8bd05c07b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6381750" y="1285875"/>
            <a:ext cx="5334000" cy="4286250"/>
          </a:xfrm>
          <a:prstGeom prst="rect">
            <a:avLst/>
          </a:prstGeom>
          <a:noFill/>
          <a:ln>
            <a:noFill/>
          </a:ln>
        </p:spPr>
      </p:pic>
      <p:sp>
        <p:nvSpPr>
          <p:cNvPr id="85" name="Google Shape;85;p13"/>
          <p:cNvSpPr txBox="1"/>
          <p:nvPr/>
        </p:nvSpPr>
        <p:spPr>
          <a:xfrm>
            <a:off x="476250" y="1806178"/>
            <a:ext cx="5600700" cy="87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5400" b="0" i="0" u="none" strike="noStrike" cap="none">
                <a:solidFill>
                  <a:srgbClr val="1A4D2E"/>
                </a:solidFill>
                <a:latin typeface="Lora SemiBold"/>
                <a:ea typeface="Lora SemiBold"/>
                <a:cs typeface="Lora SemiBold"/>
                <a:sym typeface="Lora SemiBold"/>
              </a:rPr>
              <a:t>NutriVision</a:t>
            </a:r>
            <a:endParaRPr/>
          </a:p>
        </p:txBody>
      </p:sp>
      <p:sp>
        <p:nvSpPr>
          <p:cNvPr id="86" name="Google Shape;86;p13"/>
          <p:cNvSpPr txBox="1"/>
          <p:nvPr/>
        </p:nvSpPr>
        <p:spPr>
          <a:xfrm>
            <a:off x="476250" y="2949178"/>
            <a:ext cx="5334000" cy="323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a:solidFill>
                  <a:srgbClr val="334155"/>
                </a:solidFill>
                <a:latin typeface="DM Sans"/>
                <a:ea typeface="DM Sans"/>
                <a:cs typeface="DM Sans"/>
                <a:sym typeface="DM Sans"/>
              </a:rPr>
              <a:t>A</a:t>
            </a:r>
            <a:r>
              <a:rPr lang="en-US" sz="2100" b="0" i="0" u="none" strike="noStrike" cap="none">
                <a:solidFill>
                  <a:srgbClr val="334155"/>
                </a:solidFill>
                <a:latin typeface="DM Sans"/>
                <a:ea typeface="DM Sans"/>
                <a:cs typeface="DM Sans"/>
                <a:sym typeface="DM Sans"/>
              </a:rPr>
              <a:t> magic friend for your kitchen.</a:t>
            </a:r>
            <a:endParaRPr/>
          </a:p>
        </p:txBody>
      </p:sp>
      <p:sp>
        <p:nvSpPr>
          <p:cNvPr id="87" name="Google Shape;87;p13"/>
          <p:cNvSpPr txBox="1"/>
          <p:nvPr/>
        </p:nvSpPr>
        <p:spPr>
          <a:xfrm>
            <a:off x="476250" y="3644425"/>
            <a:ext cx="34065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64748B"/>
                </a:solidFill>
                <a:latin typeface="DM Sans Medium"/>
                <a:ea typeface="DM Sans Medium"/>
                <a:cs typeface="DM Sans Medium"/>
                <a:sym typeface="DM Sans Medium"/>
              </a:rPr>
              <a:t>BY RANE DEEB &amp; IDO COHEN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2397175" y="1984575"/>
            <a:ext cx="3555950" cy="367665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6238875" y="1984575"/>
            <a:ext cx="3555950" cy="3676650"/>
          </a:xfrm>
          <a:prstGeom prst="rect">
            <a:avLst/>
          </a:prstGeom>
          <a:noFill/>
          <a:ln>
            <a:noFill/>
          </a:ln>
        </p:spPr>
      </p:pic>
      <p:sp>
        <p:nvSpPr>
          <p:cNvPr id="94" name="Google Shape;94;p14"/>
          <p:cNvSpPr txBox="1"/>
          <p:nvPr/>
        </p:nvSpPr>
        <p:spPr>
          <a:xfrm>
            <a:off x="476250" y="476250"/>
            <a:ext cx="117157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dirty="0">
                <a:solidFill>
                  <a:srgbClr val="1A4D2E"/>
                </a:solidFill>
                <a:latin typeface="Lora SemiBold"/>
                <a:sym typeface="Lora SemiBold"/>
              </a:rPr>
              <a:t>Motivation</a:t>
            </a:r>
            <a:endParaRPr dirty="0"/>
          </a:p>
        </p:txBody>
      </p:sp>
      <p:sp>
        <p:nvSpPr>
          <p:cNvPr id="95" name="Google Shape;95;p14"/>
          <p:cNvSpPr/>
          <p:nvPr/>
        </p:nvSpPr>
        <p:spPr>
          <a:xfrm>
            <a:off x="476250" y="1200150"/>
            <a:ext cx="1123950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6" name="Google Shape;96;p14" descr="image.png"/>
          <p:cNvPicPr preferRelativeResize="0"/>
          <p:nvPr/>
        </p:nvPicPr>
        <p:blipFill rotWithShape="1">
          <a:blip r:embed="rId5">
            <a:alphaModFix/>
          </a:blip>
          <a:srcRect/>
          <a:stretch/>
        </p:blipFill>
        <p:spPr>
          <a:xfrm>
            <a:off x="3794075" y="2279850"/>
            <a:ext cx="762000" cy="762000"/>
          </a:xfrm>
          <a:prstGeom prst="rect">
            <a:avLst/>
          </a:prstGeom>
          <a:noFill/>
          <a:ln>
            <a:noFill/>
          </a:ln>
        </p:spPr>
      </p:pic>
      <p:sp>
        <p:nvSpPr>
          <p:cNvPr id="97" name="Google Shape;97;p14"/>
          <p:cNvSpPr txBox="1"/>
          <p:nvPr/>
        </p:nvSpPr>
        <p:spPr>
          <a:xfrm>
            <a:off x="2618314" y="3232350"/>
            <a:ext cx="3113700"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1A4D2E"/>
                </a:solidFill>
                <a:latin typeface="Lora"/>
                <a:ea typeface="Lora"/>
                <a:cs typeface="Lora"/>
                <a:sym typeface="Lora"/>
              </a:rPr>
              <a:t>The Problem</a:t>
            </a:r>
            <a:endParaRPr sz="1800" dirty="0"/>
          </a:p>
        </p:txBody>
      </p:sp>
      <p:sp>
        <p:nvSpPr>
          <p:cNvPr id="98" name="Google Shape;98;p14"/>
          <p:cNvSpPr txBox="1"/>
          <p:nvPr/>
        </p:nvSpPr>
        <p:spPr>
          <a:xfrm>
            <a:off x="2692450" y="3651450"/>
            <a:ext cx="2965500" cy="19697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dirty="0">
                <a:solidFill>
                  <a:srgbClr val="334155"/>
                </a:solidFill>
                <a:latin typeface="DM Sans"/>
                <a:ea typeface="DM Sans"/>
                <a:cs typeface="DM Sans"/>
                <a:sym typeface="DM Sans"/>
              </a:rPr>
              <a:t>People have ingredients but no ideas. They switch between complex apps, get tired of typing, and end up wasting food.</a:t>
            </a:r>
            <a:endParaRPr sz="1600" dirty="0"/>
          </a:p>
        </p:txBody>
      </p:sp>
      <p:pic>
        <p:nvPicPr>
          <p:cNvPr id="99" name="Google Shape;99;p14" descr="image.png"/>
          <p:cNvPicPr preferRelativeResize="0"/>
          <p:nvPr/>
        </p:nvPicPr>
        <p:blipFill rotWithShape="1">
          <a:blip r:embed="rId6">
            <a:alphaModFix/>
          </a:blip>
          <a:srcRect/>
          <a:stretch/>
        </p:blipFill>
        <p:spPr>
          <a:xfrm>
            <a:off x="7635776" y="2279850"/>
            <a:ext cx="762000" cy="762000"/>
          </a:xfrm>
          <a:prstGeom prst="rect">
            <a:avLst/>
          </a:prstGeom>
          <a:noFill/>
          <a:ln>
            <a:noFill/>
          </a:ln>
        </p:spPr>
      </p:pic>
      <p:sp>
        <p:nvSpPr>
          <p:cNvPr id="100" name="Google Shape;100;p14"/>
          <p:cNvSpPr txBox="1"/>
          <p:nvPr/>
        </p:nvSpPr>
        <p:spPr>
          <a:xfrm>
            <a:off x="6460015" y="3232350"/>
            <a:ext cx="3113700"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1A4D2E"/>
                </a:solidFill>
                <a:latin typeface="Lora"/>
                <a:ea typeface="Lora"/>
                <a:cs typeface="Lora"/>
                <a:sym typeface="Lora"/>
              </a:rPr>
              <a:t>The Solution</a:t>
            </a:r>
            <a:endParaRPr sz="1800" dirty="0"/>
          </a:p>
        </p:txBody>
      </p:sp>
      <p:sp>
        <p:nvSpPr>
          <p:cNvPr id="101" name="Google Shape;101;p14"/>
          <p:cNvSpPr txBox="1"/>
          <p:nvPr/>
        </p:nvSpPr>
        <p:spPr>
          <a:xfrm>
            <a:off x="6534150" y="3651450"/>
            <a:ext cx="2965500" cy="19697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dirty="0">
                <a:solidFill>
                  <a:srgbClr val="334155"/>
                </a:solidFill>
                <a:latin typeface="DM Sans"/>
                <a:ea typeface="DM Sans"/>
                <a:cs typeface="DM Sans"/>
                <a:sym typeface="DM Sans"/>
              </a:rPr>
              <a:t>A Telegram assistant. Snap a photo of your fridge, and it instantly suggests 3 meals using what you have. No typing needed.</a:t>
            </a:r>
            <a:endParaRPr sz="1600" dirty="0"/>
          </a:p>
        </p:txBody>
      </p:sp>
      <p:pic>
        <p:nvPicPr>
          <p:cNvPr id="102" name="Google Shape;102;p14" descr="image.png"/>
          <p:cNvPicPr preferRelativeResize="0"/>
          <p:nvPr/>
        </p:nvPicPr>
        <p:blipFill rotWithShape="1">
          <a:blip r:embed="rId7">
            <a:alphaModFix/>
          </a:blip>
          <a:srcRect/>
          <a:stretch/>
        </p:blipFill>
        <p:spPr>
          <a:xfrm>
            <a:off x="3975050" y="2460825"/>
            <a:ext cx="400050" cy="400050"/>
          </a:xfrm>
          <a:prstGeom prst="rect">
            <a:avLst/>
          </a:prstGeom>
          <a:noFill/>
          <a:ln>
            <a:noFill/>
          </a:ln>
        </p:spPr>
      </p:pic>
      <p:pic>
        <p:nvPicPr>
          <p:cNvPr id="103" name="Google Shape;103;p14" descr="image.png"/>
          <p:cNvPicPr preferRelativeResize="0"/>
          <p:nvPr/>
        </p:nvPicPr>
        <p:blipFill rotWithShape="1">
          <a:blip r:embed="rId8">
            <a:alphaModFix/>
          </a:blip>
          <a:srcRect/>
          <a:stretch/>
        </p:blipFill>
        <p:spPr>
          <a:xfrm>
            <a:off x="7864376" y="2460825"/>
            <a:ext cx="304800" cy="400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7"/>
        <p:cNvGrpSpPr/>
        <p:nvPr/>
      </p:nvGrpSpPr>
      <p:grpSpPr>
        <a:xfrm>
          <a:off x="0" y="0"/>
          <a:ext cx="0" cy="0"/>
          <a:chOff x="0" y="0"/>
          <a:chExt cx="0" cy="0"/>
        </a:xfrm>
      </p:grpSpPr>
      <p:sp>
        <p:nvSpPr>
          <p:cNvPr id="108" name="Google Shape;108;p15"/>
          <p:cNvSpPr txBox="1"/>
          <p:nvPr/>
        </p:nvSpPr>
        <p:spPr>
          <a:xfrm>
            <a:off x="476250" y="476250"/>
            <a:ext cx="117159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1A4D2E"/>
                </a:solidFill>
                <a:latin typeface="Lora SemiBold"/>
                <a:ea typeface="Lora SemiBold"/>
                <a:cs typeface="Lora SemiBold"/>
                <a:sym typeface="Lora SemiBold"/>
              </a:rPr>
              <a:t>Who Is it For</a:t>
            </a:r>
            <a:endParaRPr/>
          </a:p>
        </p:txBody>
      </p:sp>
      <p:sp>
        <p:nvSpPr>
          <p:cNvPr id="109" name="Google Shape;109;p15"/>
          <p:cNvSpPr/>
          <p:nvPr/>
        </p:nvSpPr>
        <p:spPr>
          <a:xfrm>
            <a:off x="476250" y="1200150"/>
            <a:ext cx="11239500" cy="1920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0" name="Google Shape;110;p15" descr="image.png"/>
          <p:cNvPicPr preferRelativeResize="0"/>
          <p:nvPr/>
        </p:nvPicPr>
        <p:blipFill rotWithShape="1">
          <a:blip r:embed="rId3">
            <a:alphaModFix/>
          </a:blip>
          <a:srcRect/>
          <a:stretch/>
        </p:blipFill>
        <p:spPr>
          <a:xfrm>
            <a:off x="9556551" y="2447925"/>
            <a:ext cx="762000" cy="762000"/>
          </a:xfrm>
          <a:prstGeom prst="rect">
            <a:avLst/>
          </a:prstGeom>
          <a:noFill/>
          <a:ln>
            <a:noFill/>
          </a:ln>
        </p:spPr>
      </p:pic>
      <p:pic>
        <p:nvPicPr>
          <p:cNvPr id="111" name="Google Shape;111;p15" descr="image.png"/>
          <p:cNvPicPr preferRelativeResize="0"/>
          <p:nvPr/>
        </p:nvPicPr>
        <p:blipFill rotWithShape="1">
          <a:blip r:embed="rId4">
            <a:alphaModFix/>
          </a:blip>
          <a:srcRect/>
          <a:stretch/>
        </p:blipFill>
        <p:spPr>
          <a:xfrm>
            <a:off x="3712414" y="553275"/>
            <a:ext cx="504825" cy="400050"/>
          </a:xfrm>
          <a:prstGeom prst="rect">
            <a:avLst/>
          </a:prstGeom>
          <a:noFill/>
          <a:ln>
            <a:noFill/>
          </a:ln>
        </p:spPr>
      </p:pic>
      <p:sp>
        <p:nvSpPr>
          <p:cNvPr id="112" name="Google Shape;112;p15"/>
          <p:cNvSpPr txBox="1"/>
          <p:nvPr/>
        </p:nvSpPr>
        <p:spPr>
          <a:xfrm>
            <a:off x="568650" y="2389950"/>
            <a:ext cx="11054700" cy="3151632"/>
          </a:xfrm>
          <a:prstGeom prst="rect">
            <a:avLst/>
          </a:prstGeom>
          <a:noFill/>
          <a:ln>
            <a:noFill/>
          </a:ln>
        </p:spPr>
        <p:txBody>
          <a:bodyPr spcFirstLastPara="1" wrap="square" lIns="0" tIns="0" rIns="0" bIns="0" anchor="t" anchorCtr="0">
            <a:spAutoFit/>
          </a:bodyPr>
          <a:lstStyle/>
          <a:p>
            <a:pPr marL="457200" marR="0" lvl="0" indent="-317500" algn="l" rtl="0">
              <a:lnSpc>
                <a:spcPct val="160000"/>
              </a:lnSpc>
              <a:spcBef>
                <a:spcPts val="0"/>
              </a:spcBef>
              <a:spcAft>
                <a:spcPts val="0"/>
              </a:spcAft>
              <a:buClr>
                <a:srgbClr val="1A4D2E"/>
              </a:buClr>
              <a:buSzPts val="1400"/>
              <a:buAutoNum type="arabicPeriod"/>
            </a:pPr>
            <a:r>
              <a:rPr lang="en-US" sz="1600" b="1" dirty="0">
                <a:solidFill>
                  <a:srgbClr val="1A4D2E"/>
                </a:solidFill>
                <a:latin typeface="DM Sans"/>
                <a:ea typeface="DM Sans"/>
                <a:cs typeface="DM Sans"/>
                <a:sym typeface="DM Sans"/>
              </a:rPr>
              <a:t>New cooks needing guidance: </a:t>
            </a:r>
            <a:r>
              <a:rPr lang="en-US" sz="1600" dirty="0">
                <a:solidFill>
                  <a:srgbClr val="334155"/>
                </a:solidFill>
                <a:latin typeface="DM Sans"/>
                <a:ea typeface="DM Sans"/>
                <a:cs typeface="DM Sans"/>
                <a:sym typeface="DM Sans"/>
              </a:rPr>
              <a:t>They have ingredients but don’t know what to make. Our system gives 3 clear options and “how to cook” steps so they can actually follow through.</a:t>
            </a:r>
            <a:endParaRPr sz="1600" dirty="0">
              <a:solidFill>
                <a:srgbClr val="334155"/>
              </a:solidFill>
              <a:latin typeface="DM Sans"/>
              <a:ea typeface="DM Sans"/>
              <a:cs typeface="DM Sans"/>
              <a:sym typeface="DM Sans"/>
            </a:endParaRPr>
          </a:p>
          <a:p>
            <a:pPr marL="0" marR="0" lvl="0" indent="0" algn="l" rtl="0">
              <a:lnSpc>
                <a:spcPct val="160000"/>
              </a:lnSpc>
              <a:spcBef>
                <a:spcPts val="0"/>
              </a:spcBef>
              <a:spcAft>
                <a:spcPts val="0"/>
              </a:spcAft>
              <a:buNone/>
            </a:pPr>
            <a:endParaRPr sz="1600" dirty="0">
              <a:solidFill>
                <a:srgbClr val="334155"/>
              </a:solidFill>
              <a:latin typeface="DM Sans"/>
              <a:ea typeface="DM Sans"/>
              <a:cs typeface="DM Sans"/>
              <a:sym typeface="DM Sans"/>
            </a:endParaRPr>
          </a:p>
          <a:p>
            <a:pPr marL="457200" marR="0" lvl="0" indent="-323850" algn="l" rtl="0">
              <a:lnSpc>
                <a:spcPct val="160000"/>
              </a:lnSpc>
              <a:spcBef>
                <a:spcPts val="0"/>
              </a:spcBef>
              <a:spcAft>
                <a:spcPts val="0"/>
              </a:spcAft>
              <a:buClr>
                <a:srgbClr val="1A4D2E"/>
              </a:buClr>
              <a:buSzPts val="1500"/>
              <a:buFont typeface="DM Sans"/>
              <a:buAutoNum type="arabicPeriod"/>
            </a:pPr>
            <a:r>
              <a:rPr lang="en-US" sz="1600" b="1" dirty="0">
                <a:solidFill>
                  <a:srgbClr val="1A4D2E"/>
                </a:solidFill>
                <a:latin typeface="DM Sans"/>
                <a:ea typeface="DM Sans"/>
                <a:cs typeface="DM Sans"/>
                <a:sym typeface="DM Sans"/>
              </a:rPr>
              <a:t>Conscious dieters wanting low friction: </a:t>
            </a:r>
            <a:r>
              <a:rPr lang="en-US" sz="1600" dirty="0">
                <a:solidFill>
                  <a:srgbClr val="334155"/>
                </a:solidFill>
                <a:latin typeface="DM Sans"/>
                <a:ea typeface="DM Sans"/>
                <a:cs typeface="DM Sans"/>
                <a:sym typeface="DM Sans"/>
              </a:rPr>
              <a:t>They want to follow calorie goals or vegan mode without tracking everything manually. Our system keeps it simple: suggestions that match their settings and history.</a:t>
            </a:r>
            <a:endParaRPr sz="1600" dirty="0">
              <a:solidFill>
                <a:srgbClr val="334155"/>
              </a:solidFill>
              <a:latin typeface="DM Sans"/>
              <a:ea typeface="DM Sans"/>
              <a:cs typeface="DM Sans"/>
              <a:sym typeface="DM Sans"/>
            </a:endParaRPr>
          </a:p>
          <a:p>
            <a:pPr marL="0" marR="0" lvl="0" indent="0" algn="l" rtl="0">
              <a:lnSpc>
                <a:spcPct val="160000"/>
              </a:lnSpc>
              <a:spcBef>
                <a:spcPts val="0"/>
              </a:spcBef>
              <a:spcAft>
                <a:spcPts val="0"/>
              </a:spcAft>
              <a:buNone/>
            </a:pPr>
            <a:endParaRPr sz="1600" dirty="0">
              <a:solidFill>
                <a:srgbClr val="334155"/>
              </a:solidFill>
              <a:latin typeface="DM Sans"/>
              <a:ea typeface="DM Sans"/>
              <a:cs typeface="DM Sans"/>
              <a:sym typeface="DM Sans"/>
            </a:endParaRPr>
          </a:p>
          <a:p>
            <a:pPr marL="457200" marR="0" lvl="0" indent="-323850" algn="l" rtl="0">
              <a:lnSpc>
                <a:spcPct val="160000"/>
              </a:lnSpc>
              <a:spcBef>
                <a:spcPts val="0"/>
              </a:spcBef>
              <a:spcAft>
                <a:spcPts val="0"/>
              </a:spcAft>
              <a:buClr>
                <a:srgbClr val="1A4D2E"/>
              </a:buClr>
              <a:buSzPts val="1500"/>
              <a:buFont typeface="DM Sans"/>
              <a:buAutoNum type="arabicPeriod"/>
            </a:pPr>
            <a:r>
              <a:rPr lang="en-US" sz="1600" b="1" dirty="0">
                <a:solidFill>
                  <a:srgbClr val="1A4D2E"/>
                </a:solidFill>
                <a:latin typeface="DM Sans"/>
                <a:ea typeface="DM Sans"/>
                <a:cs typeface="DM Sans"/>
                <a:sym typeface="DM Sans"/>
              </a:rPr>
              <a:t>Eco-friendly users reducing waste: </a:t>
            </a:r>
            <a:r>
              <a:rPr lang="en-US" sz="1600" dirty="0">
                <a:solidFill>
                  <a:srgbClr val="334155"/>
                </a:solidFill>
                <a:latin typeface="DM Sans"/>
                <a:ea typeface="DM Sans"/>
                <a:cs typeface="DM Sans"/>
                <a:sym typeface="DM Sans"/>
              </a:rPr>
              <a:t>They want to use what’s already at home before it expires. Our system suggests meals based on what’s available and helps turn random leftovers into real meals.</a:t>
            </a:r>
            <a:endParaRPr sz="1600" dirty="0">
              <a:solidFill>
                <a:srgbClr val="334155"/>
              </a:solidFill>
              <a:latin typeface="DM Sans"/>
              <a:ea typeface="DM Sans"/>
              <a:cs typeface="DM Sans"/>
              <a:sym typeface="DM Sans"/>
            </a:endParaRPr>
          </a:p>
        </p:txBody>
      </p:sp>
      <p:sp>
        <p:nvSpPr>
          <p:cNvPr id="113" name="Google Shape;113;p15"/>
          <p:cNvSpPr txBox="1"/>
          <p:nvPr/>
        </p:nvSpPr>
        <p:spPr>
          <a:xfrm>
            <a:off x="568650" y="5904100"/>
            <a:ext cx="11054700" cy="231000"/>
          </a:xfrm>
          <a:prstGeom prst="rect">
            <a:avLst/>
          </a:prstGeom>
          <a:noFill/>
          <a:ln>
            <a:noFill/>
          </a:ln>
        </p:spPr>
        <p:txBody>
          <a:bodyPr spcFirstLastPara="1" wrap="square" lIns="0" tIns="0" rIns="0" bIns="0" anchor="t" anchorCtr="0">
            <a:spAutoFit/>
          </a:bodyPr>
          <a:lstStyle/>
          <a:p>
            <a:pPr marL="457200" marR="0" lvl="0" indent="0" algn="ctr" rtl="0">
              <a:lnSpc>
                <a:spcPct val="160000"/>
              </a:lnSpc>
              <a:spcBef>
                <a:spcPts val="0"/>
              </a:spcBef>
              <a:spcAft>
                <a:spcPts val="0"/>
              </a:spcAft>
              <a:buNone/>
            </a:pPr>
            <a:r>
              <a:rPr lang="en-US" sz="1500">
                <a:solidFill>
                  <a:srgbClr val="334155"/>
                </a:solidFill>
                <a:latin typeface="DM Sans"/>
                <a:ea typeface="DM Sans"/>
                <a:cs typeface="DM Sans"/>
                <a:sym typeface="DM Sans"/>
              </a:rPr>
              <a:t>All inside Telegram: no new app, no complicated UI.</a:t>
            </a:r>
            <a:endParaRPr sz="1500">
              <a:solidFill>
                <a:srgbClr val="334155"/>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17"/>
        <p:cNvGrpSpPr/>
        <p:nvPr/>
      </p:nvGrpSpPr>
      <p:grpSpPr>
        <a:xfrm>
          <a:off x="0" y="0"/>
          <a:ext cx="0" cy="0"/>
          <a:chOff x="0" y="0"/>
          <a:chExt cx="0" cy="0"/>
        </a:xfrm>
      </p:grpSpPr>
      <p:sp>
        <p:nvSpPr>
          <p:cNvPr id="118" name="Google Shape;118;p16"/>
          <p:cNvSpPr txBox="1"/>
          <p:nvPr/>
        </p:nvSpPr>
        <p:spPr>
          <a:xfrm>
            <a:off x="476250" y="314325"/>
            <a:ext cx="117157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1A4D2E"/>
                </a:solidFill>
                <a:latin typeface="Lora SemiBold"/>
                <a:ea typeface="Lora SemiBold"/>
                <a:cs typeface="Lora SemiBold"/>
                <a:sym typeface="Lora SemiBold"/>
              </a:rPr>
              <a:t>Literature Review</a:t>
            </a:r>
            <a:endParaRPr/>
          </a:p>
        </p:txBody>
      </p:sp>
      <p:sp>
        <p:nvSpPr>
          <p:cNvPr id="119" name="Google Shape;119;p16"/>
          <p:cNvSpPr/>
          <p:nvPr/>
        </p:nvSpPr>
        <p:spPr>
          <a:xfrm>
            <a:off x="476250" y="1038225"/>
            <a:ext cx="1123950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6"/>
          <p:cNvSpPr txBox="1"/>
          <p:nvPr/>
        </p:nvSpPr>
        <p:spPr>
          <a:xfrm>
            <a:off x="685975" y="1466875"/>
            <a:ext cx="10387800" cy="103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a:solidFill>
                  <a:srgbClr val="334155"/>
                </a:solidFill>
              </a:rPr>
              <a:t>Papastratis et al. (2024) – “AI nutrition recommendation using a deep generative model and ChatGPT”:</a:t>
            </a:r>
            <a:r>
              <a:rPr lang="en-US" sz="1600">
                <a:solidFill>
                  <a:srgbClr val="334155"/>
                </a:solidFill>
              </a:rPr>
              <a:t> Demonstrates that LLM-based systems can generate nutrition recommendations while considering user context/constraints, supporting our diet-aware meal suggestion approach. </a:t>
            </a:r>
            <a:endParaRPr sz="1900">
              <a:solidFill>
                <a:srgbClr val="334155"/>
              </a:solidFill>
            </a:endParaRPr>
          </a:p>
        </p:txBody>
      </p:sp>
      <p:sp>
        <p:nvSpPr>
          <p:cNvPr id="121" name="Google Shape;121;p16"/>
          <p:cNvSpPr txBox="1"/>
          <p:nvPr/>
        </p:nvSpPr>
        <p:spPr>
          <a:xfrm>
            <a:off x="685975" y="2783638"/>
            <a:ext cx="10387800" cy="103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a:solidFill>
                  <a:srgbClr val="334155"/>
                </a:solidFill>
              </a:rPr>
              <a:t>Chew (2022) – “The Use of Artificial Intelligence–Based Conversational Agents (Chatbots) for Weight Loss: Scoping Review and Practical Recommendations”:</a:t>
            </a:r>
            <a:r>
              <a:rPr lang="en-US" sz="1600">
                <a:solidFill>
                  <a:srgbClr val="334155"/>
                </a:solidFill>
              </a:rPr>
              <a:t> Highlights that personalization, feedback, and engagement mechanics matter for diet tools, motivating our structured commands + analytics summaries/graphs.</a:t>
            </a:r>
            <a:endParaRPr sz="2100">
              <a:solidFill>
                <a:srgbClr val="334155"/>
              </a:solidFill>
            </a:endParaRPr>
          </a:p>
        </p:txBody>
      </p:sp>
      <p:sp>
        <p:nvSpPr>
          <p:cNvPr id="122" name="Google Shape;122;p16"/>
          <p:cNvSpPr txBox="1"/>
          <p:nvPr/>
        </p:nvSpPr>
        <p:spPr>
          <a:xfrm>
            <a:off x="685975" y="4100413"/>
            <a:ext cx="10387800" cy="1428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a:solidFill>
                  <a:srgbClr val="334155"/>
                </a:solidFill>
              </a:rPr>
              <a:t>Rahmanti et al. (2022) – “SlimMe, a chatbot with artificial empathy for personal weight management” + Calvaresi et al. (2022) – “A personalized agent-based chatbot for nutritional coaching”:</a:t>
            </a:r>
            <a:r>
              <a:rPr lang="en-US" sz="1600">
                <a:solidFill>
                  <a:srgbClr val="334155"/>
                </a:solidFill>
              </a:rPr>
              <a:t> Messaging-based nutrition assistants support goal tracking and personalization, which matches our Telegram-based assistant flow and database-driven tracking.</a:t>
            </a:r>
            <a:endParaRPr sz="1900">
              <a:solidFill>
                <a:srgbClr val="334155"/>
              </a:solidFill>
            </a:endParaRPr>
          </a:p>
        </p:txBody>
      </p:sp>
      <p:sp>
        <p:nvSpPr>
          <p:cNvPr id="123" name="Google Shape;123;p16"/>
          <p:cNvSpPr txBox="1"/>
          <p:nvPr/>
        </p:nvSpPr>
        <p:spPr>
          <a:xfrm>
            <a:off x="685975" y="5805950"/>
            <a:ext cx="103878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Data:</a:t>
            </a:r>
            <a:r>
              <a:rPr lang="en-US" sz="1500" b="0" i="0" u="none" strike="noStrike" cap="none">
                <a:solidFill>
                  <a:srgbClr val="334155"/>
                </a:solidFill>
                <a:latin typeface="DM Sans"/>
                <a:ea typeface="DM Sans"/>
                <a:cs typeface="DM Sans"/>
                <a:sym typeface="DM Sans"/>
              </a:rPr>
              <a:t> OpenFoodFacts is the gold standard for transparent, open-source nutrition data (Chen et al., 2025).</a:t>
            </a:r>
            <a:endParaRPr/>
          </a:p>
        </p:txBody>
      </p:sp>
      <p:sp>
        <p:nvSpPr>
          <p:cNvPr id="124" name="Google Shape;124;p16"/>
          <p:cNvSpPr txBox="1"/>
          <p:nvPr/>
        </p:nvSpPr>
        <p:spPr>
          <a:xfrm>
            <a:off x="476250" y="1485900"/>
            <a:ext cx="2097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125" name="Google Shape;125;p16"/>
          <p:cNvSpPr txBox="1"/>
          <p:nvPr/>
        </p:nvSpPr>
        <p:spPr>
          <a:xfrm>
            <a:off x="476250" y="2590800"/>
            <a:ext cx="2097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126" name="Google Shape;126;p16"/>
          <p:cNvSpPr txBox="1"/>
          <p:nvPr/>
        </p:nvSpPr>
        <p:spPr>
          <a:xfrm>
            <a:off x="526675" y="4896975"/>
            <a:ext cx="1593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127" name="Google Shape;127;p16"/>
          <p:cNvSpPr txBox="1"/>
          <p:nvPr/>
        </p:nvSpPr>
        <p:spPr>
          <a:xfrm>
            <a:off x="112050" y="6036950"/>
            <a:ext cx="5739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31"/>
        <p:cNvGrpSpPr/>
        <p:nvPr/>
      </p:nvGrpSpPr>
      <p:grpSpPr>
        <a:xfrm>
          <a:off x="0" y="0"/>
          <a:ext cx="0" cy="0"/>
          <a:chOff x="0" y="0"/>
          <a:chExt cx="0" cy="0"/>
        </a:xfrm>
      </p:grpSpPr>
      <p:sp>
        <p:nvSpPr>
          <p:cNvPr id="132" name="Google Shape;132;p17"/>
          <p:cNvSpPr txBox="1"/>
          <p:nvPr/>
        </p:nvSpPr>
        <p:spPr>
          <a:xfrm>
            <a:off x="571500" y="571500"/>
            <a:ext cx="5200800" cy="1108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1A4D2E"/>
                </a:solidFill>
                <a:latin typeface="Lora SemiBold"/>
                <a:ea typeface="Lora SemiBold"/>
                <a:cs typeface="Lora SemiBold"/>
                <a:sym typeface="Lora SemiBold"/>
              </a:rPr>
              <a:t>Functional </a:t>
            </a:r>
            <a:r>
              <a:rPr lang="en-US" sz="3600" b="0" i="0" u="none" strike="noStrike" cap="none">
                <a:solidFill>
                  <a:srgbClr val="1A4D2E"/>
                </a:solidFill>
                <a:latin typeface="Lora SemiBold"/>
                <a:ea typeface="Lora SemiBold"/>
                <a:cs typeface="Lora SemiBold"/>
                <a:sym typeface="Lora SemiBold"/>
              </a:rPr>
              <a:t>Requirements</a:t>
            </a:r>
            <a:endParaRPr/>
          </a:p>
        </p:txBody>
      </p:sp>
      <p:sp>
        <p:nvSpPr>
          <p:cNvPr id="133" name="Google Shape;133;p17"/>
          <p:cNvSpPr/>
          <p:nvPr/>
        </p:nvSpPr>
        <p:spPr>
          <a:xfrm>
            <a:off x="571500" y="1876425"/>
            <a:ext cx="495300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7"/>
          <p:cNvSpPr txBox="1"/>
          <p:nvPr/>
        </p:nvSpPr>
        <p:spPr>
          <a:xfrm>
            <a:off x="914400" y="2618175"/>
            <a:ext cx="8020200" cy="23100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 </a:t>
            </a:r>
            <a:r>
              <a:rPr lang="en-US" sz="1500" b="1" i="0" u="none" strike="noStrike" cap="none">
                <a:solidFill>
                  <a:srgbClr val="334155"/>
                </a:solidFill>
                <a:latin typeface="DM Sans"/>
                <a:ea typeface="DM Sans"/>
                <a:cs typeface="DM Sans"/>
                <a:sym typeface="DM Sans"/>
              </a:rPr>
              <a:t>Python Backend:</a:t>
            </a:r>
            <a:r>
              <a:rPr lang="en-US" sz="1500" b="0" i="0" u="none" strike="noStrike" cap="none">
                <a:solidFill>
                  <a:srgbClr val="334155"/>
                </a:solidFill>
                <a:latin typeface="DM Sans"/>
                <a:ea typeface="DM Sans"/>
                <a:cs typeface="DM Sans"/>
                <a:sym typeface="DM Sans"/>
              </a:rPr>
              <a:t> Handles Telegram commands and image batches.</a:t>
            </a:r>
            <a:endParaRPr/>
          </a:p>
        </p:txBody>
      </p:sp>
      <p:sp>
        <p:nvSpPr>
          <p:cNvPr id="135" name="Google Shape;135;p17"/>
          <p:cNvSpPr txBox="1"/>
          <p:nvPr/>
        </p:nvSpPr>
        <p:spPr>
          <a:xfrm>
            <a:off x="914400" y="3418275"/>
            <a:ext cx="7161000" cy="23100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GPT Multimodal:</a:t>
            </a:r>
            <a:r>
              <a:rPr lang="en-US" sz="1500" b="0" i="0" u="none" strike="noStrike" cap="none">
                <a:solidFill>
                  <a:srgbClr val="334155"/>
                </a:solidFill>
                <a:latin typeface="DM Sans"/>
                <a:ea typeface="DM Sans"/>
                <a:cs typeface="DM Sans"/>
                <a:sym typeface="DM Sans"/>
              </a:rPr>
              <a:t> Extracts ingredients, suggests 3 meals, and writes instructions.</a:t>
            </a:r>
            <a:endParaRPr/>
          </a:p>
        </p:txBody>
      </p:sp>
      <p:sp>
        <p:nvSpPr>
          <p:cNvPr id="136" name="Google Shape;136;p17"/>
          <p:cNvSpPr txBox="1"/>
          <p:nvPr/>
        </p:nvSpPr>
        <p:spPr>
          <a:xfrm>
            <a:off x="957300" y="4322575"/>
            <a:ext cx="7705800" cy="23100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SQL Database:</a:t>
            </a:r>
            <a:r>
              <a:rPr lang="en-US" sz="1500" b="0" i="0" u="none" strike="noStrike" cap="none">
                <a:solidFill>
                  <a:srgbClr val="334155"/>
                </a:solidFill>
                <a:latin typeface="DM Sans"/>
                <a:ea typeface="DM Sans"/>
                <a:cs typeface="DM Sans"/>
                <a:sym typeface="DM Sans"/>
              </a:rPr>
              <a:t> Stores profiles, inventory, detection logs, and history.</a:t>
            </a:r>
            <a:endParaRPr/>
          </a:p>
        </p:txBody>
      </p:sp>
      <p:sp>
        <p:nvSpPr>
          <p:cNvPr id="137" name="Google Shape;137;p17"/>
          <p:cNvSpPr txBox="1"/>
          <p:nvPr/>
        </p:nvSpPr>
        <p:spPr>
          <a:xfrm>
            <a:off x="1000200" y="5122675"/>
            <a:ext cx="7620000" cy="23100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External APIs:</a:t>
            </a:r>
            <a:r>
              <a:rPr lang="en-US" sz="1500" b="0" i="0" u="none" strike="noStrike" cap="none">
                <a:solidFill>
                  <a:srgbClr val="334155"/>
                </a:solidFill>
                <a:latin typeface="DM Sans"/>
                <a:ea typeface="DM Sans"/>
                <a:cs typeface="DM Sans"/>
                <a:sym typeface="DM Sans"/>
              </a:rPr>
              <a:t> Fetches calories from OpenFoodFacts and OpenRouter forLLM </a:t>
            </a:r>
            <a:r>
              <a:rPr lang="en-US" sz="1500">
                <a:solidFill>
                  <a:srgbClr val="334155"/>
                </a:solidFill>
                <a:latin typeface="DM Sans"/>
                <a:ea typeface="DM Sans"/>
                <a:cs typeface="DM Sans"/>
                <a:sym typeface="DM Sans"/>
              </a:rPr>
              <a:t>APIs</a:t>
            </a:r>
            <a:r>
              <a:rPr lang="en-US" sz="1500" b="0" i="0" u="none" strike="noStrike" cap="none">
                <a:solidFill>
                  <a:srgbClr val="334155"/>
                </a:solidFill>
                <a:latin typeface="DM Sans"/>
                <a:ea typeface="DM Sans"/>
                <a:cs typeface="DM Sans"/>
                <a:sym typeface="DM Sans"/>
              </a:rPr>
              <a:t>.</a:t>
            </a:r>
            <a:endParaRPr/>
          </a:p>
        </p:txBody>
      </p:sp>
      <p:pic>
        <p:nvPicPr>
          <p:cNvPr id="138" name="Google Shape;138;p17" descr="image.png"/>
          <p:cNvPicPr preferRelativeResize="0"/>
          <p:nvPr/>
        </p:nvPicPr>
        <p:blipFill rotWithShape="1">
          <a:blip r:embed="rId3">
            <a:alphaModFix/>
          </a:blip>
          <a:srcRect/>
          <a:stretch/>
        </p:blipFill>
        <p:spPr>
          <a:xfrm>
            <a:off x="571500" y="2614612"/>
            <a:ext cx="200025" cy="238125"/>
          </a:xfrm>
          <a:prstGeom prst="rect">
            <a:avLst/>
          </a:prstGeom>
          <a:noFill/>
          <a:ln>
            <a:noFill/>
          </a:ln>
        </p:spPr>
      </p:pic>
      <p:pic>
        <p:nvPicPr>
          <p:cNvPr id="139" name="Google Shape;139;p17" descr="image.png"/>
          <p:cNvPicPr preferRelativeResize="0"/>
          <p:nvPr/>
        </p:nvPicPr>
        <p:blipFill rotWithShape="1">
          <a:blip r:embed="rId4">
            <a:alphaModFix/>
          </a:blip>
          <a:srcRect/>
          <a:stretch/>
        </p:blipFill>
        <p:spPr>
          <a:xfrm>
            <a:off x="571500" y="3409950"/>
            <a:ext cx="228600" cy="247650"/>
          </a:xfrm>
          <a:prstGeom prst="rect">
            <a:avLst/>
          </a:prstGeom>
          <a:noFill/>
          <a:ln>
            <a:noFill/>
          </a:ln>
        </p:spPr>
      </p:pic>
      <p:pic>
        <p:nvPicPr>
          <p:cNvPr id="140" name="Google Shape;140;p17" descr="image.png"/>
          <p:cNvPicPr preferRelativeResize="0"/>
          <p:nvPr/>
        </p:nvPicPr>
        <p:blipFill rotWithShape="1">
          <a:blip r:embed="rId5">
            <a:alphaModFix/>
          </a:blip>
          <a:srcRect/>
          <a:stretch/>
        </p:blipFill>
        <p:spPr>
          <a:xfrm>
            <a:off x="571500" y="4314250"/>
            <a:ext cx="200025" cy="247650"/>
          </a:xfrm>
          <a:prstGeom prst="rect">
            <a:avLst/>
          </a:prstGeom>
          <a:noFill/>
          <a:ln>
            <a:noFill/>
          </a:ln>
        </p:spPr>
      </p:pic>
      <p:pic>
        <p:nvPicPr>
          <p:cNvPr id="141" name="Google Shape;141;p17" descr="image.png"/>
          <p:cNvPicPr preferRelativeResize="0"/>
          <p:nvPr/>
        </p:nvPicPr>
        <p:blipFill rotWithShape="1">
          <a:blip r:embed="rId6">
            <a:alphaModFix/>
          </a:blip>
          <a:srcRect/>
          <a:stretch/>
        </p:blipFill>
        <p:spPr>
          <a:xfrm>
            <a:off x="571500" y="5114350"/>
            <a:ext cx="285750" cy="247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45"/>
        <p:cNvGrpSpPr/>
        <p:nvPr/>
      </p:nvGrpSpPr>
      <p:grpSpPr>
        <a:xfrm>
          <a:off x="0" y="0"/>
          <a:ext cx="0" cy="0"/>
          <a:chOff x="0" y="0"/>
          <a:chExt cx="0" cy="0"/>
        </a:xfrm>
      </p:grpSpPr>
      <p:sp>
        <p:nvSpPr>
          <p:cNvPr id="146" name="Google Shape;146;p18"/>
          <p:cNvSpPr txBox="1"/>
          <p:nvPr/>
        </p:nvSpPr>
        <p:spPr>
          <a:xfrm>
            <a:off x="571500" y="571500"/>
            <a:ext cx="52008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1A4D2E"/>
                </a:solidFill>
                <a:latin typeface="Lora SemiBold"/>
                <a:ea typeface="Lora SemiBold"/>
                <a:cs typeface="Lora SemiBold"/>
                <a:sym typeface="Lora SemiBold"/>
              </a:rPr>
              <a:t>User Data</a:t>
            </a:r>
            <a:endParaRPr/>
          </a:p>
        </p:txBody>
      </p:sp>
      <p:sp>
        <p:nvSpPr>
          <p:cNvPr id="147" name="Google Shape;147;p18"/>
          <p:cNvSpPr/>
          <p:nvPr/>
        </p:nvSpPr>
        <p:spPr>
          <a:xfrm>
            <a:off x="571500" y="1876425"/>
            <a:ext cx="4953000" cy="1920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8"/>
          <p:cNvSpPr txBox="1"/>
          <p:nvPr/>
        </p:nvSpPr>
        <p:spPr>
          <a:xfrm>
            <a:off x="517000" y="2017745"/>
            <a:ext cx="8473500" cy="977960"/>
          </a:xfrm>
          <a:prstGeom prst="rect">
            <a:avLst/>
          </a:prstGeom>
          <a:noFill/>
          <a:ln>
            <a:noFill/>
          </a:ln>
        </p:spPr>
        <p:txBody>
          <a:bodyPr spcFirstLastPara="1" wrap="square" lIns="0" tIns="0" rIns="0" bIns="0" anchor="ctr" anchorCtr="0">
            <a:spAutoFit/>
          </a:bodyPr>
          <a:lstStyle/>
          <a:p>
            <a:pPr marL="0" lvl="0" indent="0" algn="l" rtl="0">
              <a:lnSpc>
                <a:spcPct val="115000"/>
              </a:lnSpc>
              <a:spcBef>
                <a:spcPts val="1200"/>
              </a:spcBef>
              <a:spcAft>
                <a:spcPts val="0"/>
              </a:spcAft>
              <a:buClr>
                <a:schemeClr val="dk1"/>
              </a:buClr>
              <a:buSzPts val="1100"/>
              <a:buFont typeface="Arial"/>
              <a:buNone/>
            </a:pPr>
            <a:r>
              <a:rPr lang="en-US" sz="1700" dirty="0">
                <a:solidFill>
                  <a:srgbClr val="334155"/>
                </a:solidFill>
                <a:latin typeface="DM Sans"/>
                <a:ea typeface="DM Sans"/>
                <a:cs typeface="DM Sans"/>
                <a:sym typeface="DM Sans"/>
              </a:rPr>
              <a:t>We store only what we need to make the system feel personal and useful over time.</a:t>
            </a:r>
            <a:endParaRPr sz="1700" dirty="0">
              <a:solidFill>
                <a:srgbClr val="334155"/>
              </a:solidFill>
              <a:latin typeface="DM Sans"/>
              <a:ea typeface="DM Sans"/>
              <a:cs typeface="DM Sans"/>
              <a:sym typeface="DM Sans"/>
            </a:endParaRPr>
          </a:p>
          <a:p>
            <a:pPr marL="0" marR="0" lvl="0" indent="0" algn="l" rtl="0">
              <a:lnSpc>
                <a:spcPct val="160000"/>
              </a:lnSpc>
              <a:spcBef>
                <a:spcPts val="1200"/>
              </a:spcBef>
              <a:spcAft>
                <a:spcPts val="0"/>
              </a:spcAft>
              <a:buNone/>
            </a:pPr>
            <a:endParaRPr sz="1500" dirty="0">
              <a:solidFill>
                <a:srgbClr val="334155"/>
              </a:solidFill>
              <a:latin typeface="DM Sans"/>
              <a:ea typeface="DM Sans"/>
              <a:cs typeface="DM Sans"/>
              <a:sym typeface="DM Sans"/>
            </a:endParaRPr>
          </a:p>
        </p:txBody>
      </p:sp>
      <p:sp>
        <p:nvSpPr>
          <p:cNvPr id="149" name="Google Shape;149;p18"/>
          <p:cNvSpPr txBox="1"/>
          <p:nvPr/>
        </p:nvSpPr>
        <p:spPr>
          <a:xfrm>
            <a:off x="403125" y="2727500"/>
            <a:ext cx="6791700" cy="33864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rgbClr val="334155"/>
              </a:buClr>
              <a:buSzPts val="1600"/>
              <a:buChar char="-"/>
            </a:pPr>
            <a:r>
              <a:rPr lang="en-US" sz="1600" b="1">
                <a:solidFill>
                  <a:srgbClr val="334155"/>
                </a:solidFill>
              </a:rPr>
              <a:t>User profile + diet settings:</a:t>
            </a:r>
            <a:r>
              <a:rPr lang="en-US" sz="1600">
                <a:solidFill>
                  <a:srgbClr val="334155"/>
                </a:solidFill>
              </a:rPr>
              <a:t> calorie goal, meals/day, vegan mode</a:t>
            </a:r>
            <a:br>
              <a:rPr lang="en-US" sz="1600">
                <a:solidFill>
                  <a:srgbClr val="334155"/>
                </a:solidFill>
              </a:rPr>
            </a:br>
            <a:endParaRPr sz="1600">
              <a:solidFill>
                <a:srgbClr val="334155"/>
              </a:solidFill>
            </a:endParaRPr>
          </a:p>
          <a:p>
            <a:pPr marL="457200" lvl="0" indent="-330200" algn="l" rtl="0">
              <a:spcBef>
                <a:spcPts val="0"/>
              </a:spcBef>
              <a:spcAft>
                <a:spcPts val="0"/>
              </a:spcAft>
              <a:buClr>
                <a:srgbClr val="334155"/>
              </a:buClr>
              <a:buSzPts val="1600"/>
              <a:buChar char="-"/>
            </a:pPr>
            <a:r>
              <a:rPr lang="en-US" sz="1600" b="1">
                <a:solidFill>
                  <a:srgbClr val="334155"/>
                </a:solidFill>
              </a:rPr>
              <a:t>Inventory:</a:t>
            </a:r>
            <a:r>
              <a:rPr lang="en-US" sz="1600">
                <a:solidFill>
                  <a:srgbClr val="334155"/>
                </a:solidFill>
              </a:rPr>
              <a:t> what ingredients the user currently has</a:t>
            </a:r>
            <a:br>
              <a:rPr lang="en-US" sz="1600">
                <a:solidFill>
                  <a:srgbClr val="334155"/>
                </a:solidFill>
              </a:rPr>
            </a:br>
            <a:endParaRPr sz="1600">
              <a:solidFill>
                <a:srgbClr val="334155"/>
              </a:solidFill>
            </a:endParaRPr>
          </a:p>
          <a:p>
            <a:pPr marL="457200" lvl="0" indent="-330200" algn="l" rtl="0">
              <a:spcBef>
                <a:spcPts val="0"/>
              </a:spcBef>
              <a:spcAft>
                <a:spcPts val="0"/>
              </a:spcAft>
              <a:buClr>
                <a:srgbClr val="334155"/>
              </a:buClr>
              <a:buSzPts val="1600"/>
              <a:buChar char="-"/>
            </a:pPr>
            <a:r>
              <a:rPr lang="en-US" sz="1600" b="1">
                <a:solidFill>
                  <a:srgbClr val="334155"/>
                </a:solidFill>
              </a:rPr>
              <a:t>Sessions:</a:t>
            </a:r>
            <a:r>
              <a:rPr lang="en-US" sz="1600">
                <a:solidFill>
                  <a:srgbClr val="334155"/>
                </a:solidFill>
              </a:rPr>
              <a:t> detected ingredients from image batches + final corrected list</a:t>
            </a:r>
            <a:br>
              <a:rPr lang="en-US" sz="1600">
                <a:solidFill>
                  <a:srgbClr val="334155"/>
                </a:solidFill>
              </a:rPr>
            </a:br>
            <a:endParaRPr sz="1600">
              <a:solidFill>
                <a:srgbClr val="334155"/>
              </a:solidFill>
            </a:endParaRPr>
          </a:p>
          <a:p>
            <a:pPr marL="457200" lvl="0" indent="-330200" algn="l" rtl="0">
              <a:spcBef>
                <a:spcPts val="0"/>
              </a:spcBef>
              <a:spcAft>
                <a:spcPts val="0"/>
              </a:spcAft>
              <a:buClr>
                <a:srgbClr val="334155"/>
              </a:buClr>
              <a:buSzPts val="1600"/>
              <a:buChar char="-"/>
            </a:pPr>
            <a:r>
              <a:rPr lang="en-US" sz="1600" b="1">
                <a:solidFill>
                  <a:srgbClr val="334155"/>
                </a:solidFill>
              </a:rPr>
              <a:t>Suggestions log:</a:t>
            </a:r>
            <a:r>
              <a:rPr lang="en-US" sz="1600">
                <a:solidFill>
                  <a:srgbClr val="334155"/>
                </a:solidFill>
              </a:rPr>
              <a:t> the 3 meals we suggested + what the user picked</a:t>
            </a:r>
            <a:br>
              <a:rPr lang="en-US" sz="1600">
                <a:solidFill>
                  <a:srgbClr val="334155"/>
                </a:solidFill>
              </a:rPr>
            </a:br>
            <a:endParaRPr sz="1600">
              <a:solidFill>
                <a:srgbClr val="334155"/>
              </a:solidFill>
            </a:endParaRPr>
          </a:p>
          <a:p>
            <a:pPr marL="457200" lvl="0" indent="-330200" algn="l" rtl="0">
              <a:spcBef>
                <a:spcPts val="0"/>
              </a:spcBef>
              <a:spcAft>
                <a:spcPts val="0"/>
              </a:spcAft>
              <a:buClr>
                <a:srgbClr val="334155"/>
              </a:buClr>
              <a:buSzPts val="1600"/>
              <a:buChar char="-"/>
            </a:pPr>
            <a:r>
              <a:rPr lang="en-US" sz="1600" b="1">
                <a:solidFill>
                  <a:srgbClr val="334155"/>
                </a:solidFill>
              </a:rPr>
              <a:t>Meal history:</a:t>
            </a:r>
            <a:r>
              <a:rPr lang="en-US" sz="1600">
                <a:solidFill>
                  <a:srgbClr val="334155"/>
                </a:solidFill>
              </a:rPr>
              <a:t> what the user actually ate + calories + timestamp</a:t>
            </a:r>
            <a:br>
              <a:rPr lang="en-US" sz="1600">
                <a:solidFill>
                  <a:srgbClr val="334155"/>
                </a:solidFill>
              </a:rPr>
            </a:br>
            <a:endParaRPr sz="1600">
              <a:solidFill>
                <a:srgbClr val="334155"/>
              </a:solidFill>
            </a:endParaRPr>
          </a:p>
          <a:p>
            <a:pPr marL="457200" lvl="0" indent="-330200" algn="l" rtl="0">
              <a:spcBef>
                <a:spcPts val="0"/>
              </a:spcBef>
              <a:spcAft>
                <a:spcPts val="0"/>
              </a:spcAft>
              <a:buClr>
                <a:srgbClr val="334155"/>
              </a:buClr>
              <a:buSzPts val="1600"/>
              <a:buChar char="-"/>
            </a:pPr>
            <a:r>
              <a:rPr lang="en-US" sz="1600" b="1">
                <a:solidFill>
                  <a:srgbClr val="334155"/>
                </a:solidFill>
              </a:rPr>
              <a:t>Daily summaries:</a:t>
            </a:r>
            <a:r>
              <a:rPr lang="en-US" sz="1600">
                <a:solidFill>
                  <a:srgbClr val="334155"/>
                </a:solidFill>
              </a:rPr>
              <a:t> total calories/day + meals/day (for fast analytics)</a:t>
            </a:r>
            <a:endParaRPr sz="1600">
              <a:solidFill>
                <a:srgbClr val="33415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53"/>
        <p:cNvGrpSpPr/>
        <p:nvPr/>
      </p:nvGrpSpPr>
      <p:grpSpPr>
        <a:xfrm>
          <a:off x="0" y="0"/>
          <a:ext cx="0" cy="0"/>
          <a:chOff x="0" y="0"/>
          <a:chExt cx="0" cy="0"/>
        </a:xfrm>
      </p:grpSpPr>
      <p:sp>
        <p:nvSpPr>
          <p:cNvPr id="154" name="Google Shape;154;p19"/>
          <p:cNvSpPr txBox="1"/>
          <p:nvPr/>
        </p:nvSpPr>
        <p:spPr>
          <a:xfrm>
            <a:off x="476250" y="476250"/>
            <a:ext cx="117159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1A4D2E"/>
                </a:solidFill>
                <a:latin typeface="Lora SemiBold"/>
                <a:ea typeface="Lora SemiBold"/>
                <a:cs typeface="Lora SemiBold"/>
                <a:sym typeface="Lora SemiBold"/>
              </a:rPr>
              <a:t>Non-</a:t>
            </a:r>
            <a:r>
              <a:rPr lang="en-US" sz="3600">
                <a:solidFill>
                  <a:srgbClr val="1A4D2E"/>
                </a:solidFill>
                <a:latin typeface="Lora SemiBold"/>
                <a:ea typeface="Lora SemiBold"/>
                <a:cs typeface="Lora SemiBold"/>
                <a:sym typeface="Lora SemiBold"/>
              </a:rPr>
              <a:t>Functional</a:t>
            </a:r>
            <a:r>
              <a:rPr lang="en-US" sz="3600" b="0" i="0" u="none" strike="noStrike" cap="none">
                <a:solidFill>
                  <a:srgbClr val="1A4D2E"/>
                </a:solidFill>
                <a:latin typeface="Lora SemiBold"/>
                <a:ea typeface="Lora SemiBold"/>
                <a:cs typeface="Lora SemiBold"/>
                <a:sym typeface="Lora SemiBold"/>
              </a:rPr>
              <a:t> Requirements</a:t>
            </a:r>
            <a:endParaRPr/>
          </a:p>
        </p:txBody>
      </p:sp>
      <p:sp>
        <p:nvSpPr>
          <p:cNvPr id="155" name="Google Shape;155;p19"/>
          <p:cNvSpPr/>
          <p:nvPr/>
        </p:nvSpPr>
        <p:spPr>
          <a:xfrm>
            <a:off x="476250" y="1200150"/>
            <a:ext cx="1123950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9"/>
          <p:cNvSpPr txBox="1"/>
          <p:nvPr/>
        </p:nvSpPr>
        <p:spPr>
          <a:xfrm>
            <a:off x="1200150" y="1709275"/>
            <a:ext cx="4705200" cy="72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4155"/>
                </a:solidFill>
                <a:latin typeface="DM Sans"/>
                <a:ea typeface="DM Sans"/>
                <a:cs typeface="DM Sans"/>
                <a:sym typeface="DM Sans"/>
              </a:rPr>
              <a:t>Low friction experience via Telegram commands.</a:t>
            </a:r>
            <a:endParaRPr sz="1700"/>
          </a:p>
        </p:txBody>
      </p:sp>
      <p:sp>
        <p:nvSpPr>
          <p:cNvPr id="157" name="Google Shape;157;p19"/>
          <p:cNvSpPr txBox="1"/>
          <p:nvPr/>
        </p:nvSpPr>
        <p:spPr>
          <a:xfrm>
            <a:off x="1200150" y="3326775"/>
            <a:ext cx="4705200" cy="72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4155"/>
                </a:solidFill>
                <a:latin typeface="DM Sans"/>
                <a:ea typeface="DM Sans"/>
                <a:cs typeface="DM Sans"/>
                <a:sym typeface="DM Sans"/>
              </a:rPr>
              <a:t>Supports Diet Modes (Vegan, Calorie goals) optionally.</a:t>
            </a:r>
            <a:endParaRPr sz="1700"/>
          </a:p>
        </p:txBody>
      </p:sp>
      <p:sp>
        <p:nvSpPr>
          <p:cNvPr id="158" name="Google Shape;158;p19"/>
          <p:cNvSpPr txBox="1"/>
          <p:nvPr/>
        </p:nvSpPr>
        <p:spPr>
          <a:xfrm>
            <a:off x="1200150" y="4220400"/>
            <a:ext cx="4705200" cy="72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4155"/>
                </a:solidFill>
                <a:latin typeface="DM Sans"/>
                <a:ea typeface="DM Sans"/>
                <a:cs typeface="DM Sans"/>
                <a:sym typeface="DM Sans"/>
              </a:rPr>
              <a:t>Always returns exactly 3 unique meal options and vary each time.</a:t>
            </a:r>
            <a:endParaRPr sz="1700"/>
          </a:p>
        </p:txBody>
      </p:sp>
      <p:sp>
        <p:nvSpPr>
          <p:cNvPr id="159" name="Google Shape;159;p19"/>
          <p:cNvSpPr txBox="1"/>
          <p:nvPr/>
        </p:nvSpPr>
        <p:spPr>
          <a:xfrm>
            <a:off x="1155250" y="2739563"/>
            <a:ext cx="4705200" cy="27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4155"/>
                </a:solidFill>
                <a:latin typeface="DM Sans"/>
                <a:ea typeface="DM Sans"/>
                <a:cs typeface="DM Sans"/>
                <a:sym typeface="DM Sans"/>
              </a:rPr>
              <a:t>Clear "How-to-Cook" guide for new cooks.</a:t>
            </a:r>
            <a:endParaRPr sz="1700"/>
          </a:p>
        </p:txBody>
      </p:sp>
      <p:sp>
        <p:nvSpPr>
          <p:cNvPr id="160" name="Google Shape;160;p19"/>
          <p:cNvSpPr txBox="1"/>
          <p:nvPr/>
        </p:nvSpPr>
        <p:spPr>
          <a:xfrm>
            <a:off x="1200150" y="5067788"/>
            <a:ext cx="4705200" cy="29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00" b="0" i="0" u="none" strike="noStrike" cap="none">
                <a:solidFill>
                  <a:srgbClr val="334155"/>
                </a:solidFill>
                <a:latin typeface="DM Sans"/>
                <a:ea typeface="DM Sans"/>
                <a:cs typeface="DM Sans"/>
                <a:sym typeface="DM Sans"/>
              </a:rPr>
              <a:t>Allows manual ingredient correction.</a:t>
            </a:r>
            <a:endParaRPr sz="1800"/>
          </a:p>
        </p:txBody>
      </p:sp>
      <p:pic>
        <p:nvPicPr>
          <p:cNvPr id="161" name="Google Shape;161;p19" descr="image.png"/>
          <p:cNvPicPr preferRelativeResize="0"/>
          <p:nvPr/>
        </p:nvPicPr>
        <p:blipFill rotWithShape="1">
          <a:blip r:embed="rId3">
            <a:alphaModFix/>
          </a:blip>
          <a:srcRect/>
          <a:stretch/>
        </p:blipFill>
        <p:spPr>
          <a:xfrm>
            <a:off x="866775" y="1752137"/>
            <a:ext cx="190500" cy="200025"/>
          </a:xfrm>
          <a:prstGeom prst="rect">
            <a:avLst/>
          </a:prstGeom>
          <a:noFill/>
          <a:ln>
            <a:noFill/>
          </a:ln>
        </p:spPr>
      </p:pic>
      <p:pic>
        <p:nvPicPr>
          <p:cNvPr id="162" name="Google Shape;162;p19" descr="image.png"/>
          <p:cNvPicPr preferRelativeResize="0"/>
          <p:nvPr/>
        </p:nvPicPr>
        <p:blipFill rotWithShape="1">
          <a:blip r:embed="rId3">
            <a:alphaModFix/>
          </a:blip>
          <a:srcRect/>
          <a:stretch/>
        </p:blipFill>
        <p:spPr>
          <a:xfrm>
            <a:off x="866775" y="3369637"/>
            <a:ext cx="190500" cy="200025"/>
          </a:xfrm>
          <a:prstGeom prst="rect">
            <a:avLst/>
          </a:prstGeom>
          <a:noFill/>
          <a:ln>
            <a:noFill/>
          </a:ln>
        </p:spPr>
      </p:pic>
      <p:pic>
        <p:nvPicPr>
          <p:cNvPr id="163" name="Google Shape;163;p19" descr="image.png"/>
          <p:cNvPicPr preferRelativeResize="0"/>
          <p:nvPr/>
        </p:nvPicPr>
        <p:blipFill rotWithShape="1">
          <a:blip r:embed="rId3">
            <a:alphaModFix/>
          </a:blip>
          <a:srcRect/>
          <a:stretch/>
        </p:blipFill>
        <p:spPr>
          <a:xfrm>
            <a:off x="866775" y="4263262"/>
            <a:ext cx="190500" cy="200025"/>
          </a:xfrm>
          <a:prstGeom prst="rect">
            <a:avLst/>
          </a:prstGeom>
          <a:noFill/>
          <a:ln>
            <a:noFill/>
          </a:ln>
        </p:spPr>
      </p:pic>
      <p:pic>
        <p:nvPicPr>
          <p:cNvPr id="164" name="Google Shape;164;p19" descr="image.png"/>
          <p:cNvPicPr preferRelativeResize="0"/>
          <p:nvPr/>
        </p:nvPicPr>
        <p:blipFill rotWithShape="1">
          <a:blip r:embed="rId3">
            <a:alphaModFix/>
          </a:blip>
          <a:srcRect/>
          <a:stretch/>
        </p:blipFill>
        <p:spPr>
          <a:xfrm>
            <a:off x="866775" y="2778162"/>
            <a:ext cx="190500" cy="200025"/>
          </a:xfrm>
          <a:prstGeom prst="rect">
            <a:avLst/>
          </a:prstGeom>
          <a:noFill/>
          <a:ln>
            <a:noFill/>
          </a:ln>
        </p:spPr>
      </p:pic>
      <p:pic>
        <p:nvPicPr>
          <p:cNvPr id="165" name="Google Shape;165;p19" descr="image.png"/>
          <p:cNvPicPr preferRelativeResize="0"/>
          <p:nvPr/>
        </p:nvPicPr>
        <p:blipFill rotWithShape="1">
          <a:blip r:embed="rId3">
            <a:alphaModFix/>
          </a:blip>
          <a:srcRect/>
          <a:stretch/>
        </p:blipFill>
        <p:spPr>
          <a:xfrm>
            <a:off x="866775" y="5114025"/>
            <a:ext cx="190500" cy="200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69"/>
        <p:cNvGrpSpPr/>
        <p:nvPr/>
      </p:nvGrpSpPr>
      <p:grpSpPr>
        <a:xfrm>
          <a:off x="0" y="0"/>
          <a:ext cx="0" cy="0"/>
          <a:chOff x="0" y="0"/>
          <a:chExt cx="0" cy="0"/>
        </a:xfrm>
      </p:grpSpPr>
      <p:sp>
        <p:nvSpPr>
          <p:cNvPr id="170" name="Google Shape;170;p20"/>
          <p:cNvSpPr txBox="1"/>
          <p:nvPr/>
        </p:nvSpPr>
        <p:spPr>
          <a:xfrm>
            <a:off x="476250" y="476250"/>
            <a:ext cx="117159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1A4D2E"/>
                </a:solidFill>
                <a:latin typeface="Lora SemiBold"/>
                <a:ea typeface="Lora SemiBold"/>
                <a:cs typeface="Lora SemiBold"/>
                <a:sym typeface="Lora SemiBold"/>
              </a:rPr>
              <a:t>Work Flow</a:t>
            </a:r>
            <a:endParaRPr/>
          </a:p>
        </p:txBody>
      </p:sp>
      <p:sp>
        <p:nvSpPr>
          <p:cNvPr id="171" name="Google Shape;171;p20"/>
          <p:cNvSpPr/>
          <p:nvPr/>
        </p:nvSpPr>
        <p:spPr>
          <a:xfrm>
            <a:off x="476250" y="1200150"/>
            <a:ext cx="11239500" cy="1920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72" name="Google Shape;172;p20"/>
          <p:cNvGrpSpPr/>
          <p:nvPr/>
        </p:nvGrpSpPr>
        <p:grpSpPr>
          <a:xfrm>
            <a:off x="5820999" y="1586325"/>
            <a:ext cx="3416441" cy="4643963"/>
            <a:chOff x="5632317" y="1189775"/>
            <a:chExt cx="3305700" cy="3483059"/>
          </a:xfrm>
        </p:grpSpPr>
        <p:sp>
          <p:nvSpPr>
            <p:cNvPr id="173" name="Google Shape;173;p20"/>
            <p:cNvSpPr/>
            <p:nvPr/>
          </p:nvSpPr>
          <p:spPr>
            <a:xfrm>
              <a:off x="5632317" y="1189775"/>
              <a:ext cx="3305700" cy="669000"/>
            </a:xfrm>
            <a:prstGeom prst="chevron">
              <a:avLst>
                <a:gd name="adj" fmla="val 50000"/>
              </a:avLst>
            </a:prstGeom>
            <a:solidFill>
              <a:srgbClr val="6AA84F"/>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a:solidFill>
                    <a:srgbClr val="FFFFFF"/>
                  </a:solidFill>
                  <a:latin typeface="Roboto"/>
                  <a:ea typeface="Roboto"/>
                  <a:cs typeface="Roboto"/>
                  <a:sym typeface="Roboto"/>
                </a:rPr>
                <a:t>Context + Correction (Memory)</a:t>
              </a:r>
              <a:endParaRPr sz="1900">
                <a:solidFill>
                  <a:srgbClr val="FFFFFF"/>
                </a:solidFill>
                <a:latin typeface="Roboto"/>
                <a:ea typeface="Roboto"/>
                <a:cs typeface="Roboto"/>
                <a:sym typeface="Roboto"/>
              </a:endParaRPr>
            </a:p>
          </p:txBody>
        </p:sp>
        <p:sp>
          <p:nvSpPr>
            <p:cNvPr id="174" name="Google Shape;174;p20"/>
            <p:cNvSpPr txBox="1"/>
            <p:nvPr/>
          </p:nvSpPr>
          <p:spPr>
            <a:xfrm>
              <a:off x="5799444" y="2057134"/>
              <a:ext cx="2921400" cy="26157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600">
                  <a:latin typeface="Roboto"/>
                  <a:ea typeface="Roboto"/>
                  <a:cs typeface="Roboto"/>
                  <a:sym typeface="Roboto"/>
                </a:rPr>
                <a:t>System pulls the user context from the SQL database, applies any corrections (manual add/remove if detection wasn’t perfect), and builds the final prompt for meal generation.</a:t>
              </a:r>
              <a:endParaRPr sz="1600">
                <a:latin typeface="Roboto"/>
                <a:ea typeface="Roboto"/>
                <a:cs typeface="Roboto"/>
                <a:sym typeface="Roboto"/>
              </a:endParaRPr>
            </a:p>
          </p:txBody>
        </p:sp>
      </p:grpSp>
      <p:grpSp>
        <p:nvGrpSpPr>
          <p:cNvPr id="175" name="Google Shape;175;p20"/>
          <p:cNvGrpSpPr/>
          <p:nvPr/>
        </p:nvGrpSpPr>
        <p:grpSpPr>
          <a:xfrm>
            <a:off x="0" y="1586611"/>
            <a:ext cx="3665721" cy="4643665"/>
            <a:chOff x="0" y="1189989"/>
            <a:chExt cx="3546900" cy="3482836"/>
          </a:xfrm>
        </p:grpSpPr>
        <p:sp>
          <p:nvSpPr>
            <p:cNvPr id="176" name="Google Shape;176;p20"/>
            <p:cNvSpPr/>
            <p:nvPr/>
          </p:nvSpPr>
          <p:spPr>
            <a:xfrm>
              <a:off x="0" y="1189989"/>
              <a:ext cx="3546900" cy="669000"/>
            </a:xfrm>
            <a:prstGeom prst="homePlate">
              <a:avLst>
                <a:gd name="adj" fmla="val 50000"/>
              </a:avLst>
            </a:prstGeom>
            <a:solidFill>
              <a:srgbClr val="B6D7A8"/>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a:solidFill>
                    <a:srgbClr val="FFFFFF"/>
                  </a:solidFill>
                  <a:latin typeface="Roboto"/>
                  <a:ea typeface="Roboto"/>
                  <a:cs typeface="Roboto"/>
                  <a:sym typeface="Roboto"/>
                </a:rPr>
                <a:t>Image Session (Input)</a:t>
              </a:r>
              <a:endParaRPr sz="1900">
                <a:solidFill>
                  <a:srgbClr val="FFFFFF"/>
                </a:solidFill>
                <a:latin typeface="Roboto"/>
                <a:ea typeface="Roboto"/>
                <a:cs typeface="Roboto"/>
                <a:sym typeface="Roboto"/>
              </a:endParaRPr>
            </a:p>
          </p:txBody>
        </p:sp>
        <p:sp>
          <p:nvSpPr>
            <p:cNvPr id="177" name="Google Shape;177;p20"/>
            <p:cNvSpPr txBox="1"/>
            <p:nvPr/>
          </p:nvSpPr>
          <p:spPr>
            <a:xfrm>
              <a:off x="655361" y="2057125"/>
              <a:ext cx="2236200" cy="26157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a:latin typeface="Roboto"/>
                  <a:ea typeface="Roboto"/>
                  <a:cs typeface="Roboto"/>
                  <a:sym typeface="Roboto"/>
                </a:rPr>
                <a:t>User starts a session and sends a batch of fridge/counter images.</a:t>
              </a:r>
              <a:br>
                <a:rPr lang="en-US" sz="1600">
                  <a:latin typeface="Roboto"/>
                  <a:ea typeface="Roboto"/>
                  <a:cs typeface="Roboto"/>
                  <a:sym typeface="Roboto"/>
                </a:rPr>
              </a:br>
              <a:endParaRPr sz="1600">
                <a:latin typeface="Roboto"/>
                <a:ea typeface="Roboto"/>
                <a:cs typeface="Roboto"/>
                <a:sym typeface="Roboto"/>
              </a:endParaRPr>
            </a:p>
            <a:p>
              <a:pPr marL="0" lvl="0" indent="0" algn="l" rtl="0">
                <a:lnSpc>
                  <a:spcPct val="115000"/>
                </a:lnSpc>
                <a:spcBef>
                  <a:spcPts val="0"/>
                </a:spcBef>
                <a:spcAft>
                  <a:spcPts val="0"/>
                </a:spcAft>
                <a:buNone/>
              </a:pPr>
              <a:endParaRPr sz="1600">
                <a:latin typeface="Roboto"/>
                <a:ea typeface="Roboto"/>
                <a:cs typeface="Roboto"/>
                <a:sym typeface="Roboto"/>
              </a:endParaRPr>
            </a:p>
          </p:txBody>
        </p:sp>
      </p:grpSp>
      <p:grpSp>
        <p:nvGrpSpPr>
          <p:cNvPr id="178" name="Google Shape;178;p20"/>
          <p:cNvGrpSpPr/>
          <p:nvPr/>
        </p:nvGrpSpPr>
        <p:grpSpPr>
          <a:xfrm>
            <a:off x="3042835" y="1586325"/>
            <a:ext cx="3416441" cy="4643951"/>
            <a:chOff x="2944204" y="1189775"/>
            <a:chExt cx="3305700" cy="3483050"/>
          </a:xfrm>
        </p:grpSpPr>
        <p:sp>
          <p:nvSpPr>
            <p:cNvPr id="179" name="Google Shape;179;p20"/>
            <p:cNvSpPr/>
            <p:nvPr/>
          </p:nvSpPr>
          <p:spPr>
            <a:xfrm>
              <a:off x="2944204" y="1189775"/>
              <a:ext cx="3305700" cy="669000"/>
            </a:xfrm>
            <a:prstGeom prst="chevron">
              <a:avLst>
                <a:gd name="adj" fmla="val 50000"/>
              </a:avLst>
            </a:prstGeom>
            <a:solidFill>
              <a:srgbClr val="93C47D"/>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a:solidFill>
                    <a:srgbClr val="FFFFFF"/>
                  </a:solidFill>
                  <a:latin typeface="Roboto"/>
                  <a:ea typeface="Roboto"/>
                  <a:cs typeface="Roboto"/>
                  <a:sym typeface="Roboto"/>
                </a:rPr>
                <a:t>Ingredient Recognition (Vision)</a:t>
              </a:r>
              <a:endParaRPr sz="1900">
                <a:solidFill>
                  <a:srgbClr val="FFFFFF"/>
                </a:solidFill>
                <a:latin typeface="Roboto"/>
                <a:ea typeface="Roboto"/>
                <a:cs typeface="Roboto"/>
                <a:sym typeface="Roboto"/>
              </a:endParaRPr>
            </a:p>
          </p:txBody>
        </p:sp>
        <p:sp>
          <p:nvSpPr>
            <p:cNvPr id="180" name="Google Shape;180;p20"/>
            <p:cNvSpPr txBox="1"/>
            <p:nvPr/>
          </p:nvSpPr>
          <p:spPr>
            <a:xfrm>
              <a:off x="3478949" y="2057125"/>
              <a:ext cx="2236200" cy="26157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a:latin typeface="Roboto"/>
                  <a:ea typeface="Roboto"/>
                  <a:cs typeface="Roboto"/>
                  <a:sym typeface="Roboto"/>
                </a:rPr>
                <a:t>GPT multimodal extracts the ingredients across all images into one combined ingredient list.</a:t>
              </a:r>
              <a:br>
                <a:rPr lang="en-US" sz="1600">
                  <a:latin typeface="Roboto"/>
                  <a:ea typeface="Roboto"/>
                  <a:cs typeface="Roboto"/>
                  <a:sym typeface="Roboto"/>
                </a:rPr>
              </a:br>
              <a:endParaRPr sz="1600">
                <a:latin typeface="Roboto"/>
                <a:ea typeface="Roboto"/>
                <a:cs typeface="Roboto"/>
                <a:sym typeface="Roboto"/>
              </a:endParaRPr>
            </a:p>
            <a:p>
              <a:pPr marL="0" lvl="0" indent="0" algn="l" rtl="0">
                <a:lnSpc>
                  <a:spcPct val="115000"/>
                </a:lnSpc>
                <a:spcBef>
                  <a:spcPts val="0"/>
                </a:spcBef>
                <a:spcAft>
                  <a:spcPts val="0"/>
                </a:spcAft>
                <a:buNone/>
              </a:pPr>
              <a:endParaRPr sz="1600">
                <a:latin typeface="Roboto"/>
                <a:ea typeface="Roboto"/>
                <a:cs typeface="Roboto"/>
                <a:sym typeface="Roboto"/>
              </a:endParaRPr>
            </a:p>
          </p:txBody>
        </p:sp>
      </p:grpSp>
      <p:grpSp>
        <p:nvGrpSpPr>
          <p:cNvPr id="181" name="Google Shape;181;p20"/>
          <p:cNvGrpSpPr/>
          <p:nvPr/>
        </p:nvGrpSpPr>
        <p:grpSpPr>
          <a:xfrm>
            <a:off x="8629624" y="1586600"/>
            <a:ext cx="3416441" cy="4643688"/>
            <a:chOff x="5491122" y="1189981"/>
            <a:chExt cx="3305700" cy="3482853"/>
          </a:xfrm>
        </p:grpSpPr>
        <p:sp>
          <p:nvSpPr>
            <p:cNvPr id="182" name="Google Shape;182;p20"/>
            <p:cNvSpPr/>
            <p:nvPr/>
          </p:nvSpPr>
          <p:spPr>
            <a:xfrm>
              <a:off x="5491122" y="1189981"/>
              <a:ext cx="3305700" cy="669000"/>
            </a:xfrm>
            <a:prstGeom prst="chevron">
              <a:avLst>
                <a:gd name="adj" fmla="val 50000"/>
              </a:avLst>
            </a:prstGeom>
            <a:solidFill>
              <a:srgbClr val="38761D"/>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a:solidFill>
                    <a:srgbClr val="FFFFFF"/>
                  </a:solidFill>
                  <a:latin typeface="Roboto"/>
                  <a:ea typeface="Roboto"/>
                  <a:cs typeface="Roboto"/>
                  <a:sym typeface="Roboto"/>
                </a:rPr>
                <a:t>Suggestions + Update (Output + Learning)</a:t>
              </a:r>
              <a:endParaRPr sz="1900">
                <a:solidFill>
                  <a:srgbClr val="FFFFFF"/>
                </a:solidFill>
                <a:latin typeface="Roboto"/>
                <a:ea typeface="Roboto"/>
                <a:cs typeface="Roboto"/>
                <a:sym typeface="Roboto"/>
              </a:endParaRPr>
            </a:p>
          </p:txBody>
        </p:sp>
        <p:sp>
          <p:nvSpPr>
            <p:cNvPr id="183" name="Google Shape;183;p20"/>
            <p:cNvSpPr txBox="1"/>
            <p:nvPr/>
          </p:nvSpPr>
          <p:spPr>
            <a:xfrm>
              <a:off x="6003314" y="2057134"/>
              <a:ext cx="2671500" cy="26157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600">
                  <a:latin typeface="Roboto"/>
                  <a:ea typeface="Roboto"/>
                  <a:cs typeface="Roboto"/>
                  <a:sym typeface="Roboto"/>
                </a:rPr>
                <a:t>LLM generates 3 meal suggestions (with how-to-cook), the user picks one, and the system updates the database (inventory, meal history, daily summaries, and last suggestion to avoid repeats next time).</a:t>
              </a:r>
              <a:endParaRPr sz="1600">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87"/>
        <p:cNvGrpSpPr/>
        <p:nvPr/>
      </p:nvGrpSpPr>
      <p:grpSpPr>
        <a:xfrm>
          <a:off x="0" y="0"/>
          <a:ext cx="0" cy="0"/>
          <a:chOff x="0" y="0"/>
          <a:chExt cx="0" cy="0"/>
        </a:xfrm>
      </p:grpSpPr>
      <p:sp>
        <p:nvSpPr>
          <p:cNvPr id="188" name="Google Shape;188;p21"/>
          <p:cNvSpPr txBox="1"/>
          <p:nvPr/>
        </p:nvSpPr>
        <p:spPr>
          <a:xfrm>
            <a:off x="476250" y="476250"/>
            <a:ext cx="117159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1A4D2E"/>
                </a:solidFill>
                <a:latin typeface="Lora SemiBold"/>
                <a:ea typeface="Lora SemiBold"/>
                <a:cs typeface="Lora SemiBold"/>
                <a:sym typeface="Lora SemiBold"/>
              </a:rPr>
              <a:t>Conclusion</a:t>
            </a:r>
            <a:endParaRPr/>
          </a:p>
        </p:txBody>
      </p:sp>
      <p:sp>
        <p:nvSpPr>
          <p:cNvPr id="189" name="Google Shape;189;p21"/>
          <p:cNvSpPr/>
          <p:nvPr/>
        </p:nvSpPr>
        <p:spPr>
          <a:xfrm>
            <a:off x="476250" y="1200150"/>
            <a:ext cx="11239500" cy="1920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21"/>
          <p:cNvSpPr txBox="1"/>
          <p:nvPr/>
        </p:nvSpPr>
        <p:spPr>
          <a:xfrm>
            <a:off x="476250" y="1686825"/>
            <a:ext cx="111633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dirty="0" err="1">
                <a:solidFill>
                  <a:srgbClr val="334155"/>
                </a:solidFill>
                <a:latin typeface="DM Sans"/>
                <a:ea typeface="DM Sans"/>
                <a:cs typeface="DM Sans"/>
                <a:sym typeface="DM Sans"/>
              </a:rPr>
              <a:t>NutriVision</a:t>
            </a:r>
            <a:r>
              <a:rPr lang="en-US" sz="1800" dirty="0">
                <a:solidFill>
                  <a:srgbClr val="334155"/>
                </a:solidFill>
                <a:latin typeface="DM Sans"/>
                <a:ea typeface="DM Sans"/>
                <a:cs typeface="DM Sans"/>
                <a:sym typeface="DM Sans"/>
              </a:rPr>
              <a:t> brings everything into one simple Telegram experience, making it easier to cook, learn how to cook, stay on track with diet goals, and reduce food waste using what you already have at home.</a:t>
            </a:r>
            <a:endParaRPr sz="1800" dirty="0"/>
          </a:p>
        </p:txBody>
      </p:sp>
      <p:sp>
        <p:nvSpPr>
          <p:cNvPr id="191" name="Google Shape;191;p21"/>
          <p:cNvSpPr txBox="1"/>
          <p:nvPr/>
        </p:nvSpPr>
        <p:spPr>
          <a:xfrm>
            <a:off x="4747850" y="4209075"/>
            <a:ext cx="3000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800" b="1">
                <a:solidFill>
                  <a:srgbClr val="1A4D2E"/>
                </a:solidFill>
              </a:rPr>
              <a:t>Questions?</a:t>
            </a:r>
            <a:endParaRPr sz="3800" b="1">
              <a:solidFill>
                <a:srgbClr val="1A4D2E"/>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728</Words>
  <Application>Microsoft Macintosh PowerPoint</Application>
  <PresentationFormat>Widescreen</PresentationFormat>
  <Paragraphs>51</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Roboto</vt:lpstr>
      <vt:lpstr>Arial</vt:lpstr>
      <vt:lpstr>Calibri</vt:lpstr>
      <vt:lpstr>Lora</vt:lpstr>
      <vt:lpstr>DM Sans</vt:lpstr>
      <vt:lpstr>Lora SemiBold</vt:lpstr>
      <vt:lpstr>DM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Rane Deeb</cp:lastModifiedBy>
  <cp:revision>1</cp:revision>
  <dcterms:modified xsi:type="dcterms:W3CDTF">2026-01-21T12:40:26Z</dcterms:modified>
</cp:coreProperties>
</file>